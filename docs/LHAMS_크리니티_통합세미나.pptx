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FB3D5"/>
                </a:solidFill>
                <a:latin typeface="Consolas"/>
              </a:rPr>
              <a:t>SECURITY &amp; SYSTEMS SEMINAR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965960"/>
            <a:ext cx="9144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6E7E8E"/>
                </a:solidFill>
                <a:latin typeface="맑은 고딕"/>
              </a:rPr>
              <a:t>Linux Hybrid Mail Audit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4F8FB"/>
                </a:solidFill>
                <a:latin typeface="맑은 고딕"/>
              </a:rPr>
              <a:t>단순 파일 감지를 넘어, 커널 레벨 실행 추적부터 대시보드 시각화까지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5074920"/>
            <a:ext cx="7406640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53035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7E8E"/>
                </a:solidFill>
                <a:latin typeface="Consolas"/>
              </a:rPr>
              <a:t>발표자 — [이름 입력]</a:t>
            </a:r>
            <a:r>
              <a:rPr sz="1150" b="0">
                <a:solidFill>
                  <a:srgbClr val="24303C"/>
                </a:solidFill>
                <a:latin typeface="Consolas"/>
              </a:rPr>
              <a:t>   ·   </a:t>
            </a:r>
            <a:r>
              <a:rPr sz="1150" b="0">
                <a:solidFill>
                  <a:srgbClr val="6E7E8E"/>
                </a:solidFill>
                <a:latin typeface="Consolas"/>
              </a:rPr>
              <a:t>대상 — 개발 · 영업 · 대표</a:t>
            </a:r>
            <a:r>
              <a:rPr sz="1150" b="0">
                <a:solidFill>
                  <a:srgbClr val="24303C"/>
                </a:solidFill>
                <a:latin typeface="Consolas"/>
              </a:rPr>
              <a:t>   ·   </a:t>
            </a:r>
            <a:r>
              <a:rPr sz="1150" b="0">
                <a:solidFill>
                  <a:srgbClr val="6E7E8E"/>
                </a:solidFill>
                <a:latin typeface="Consolas"/>
              </a:rPr>
              <a:t>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01 —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02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01 ·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왜 만들었나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9D4DF"/>
                </a:solidFill>
                <a:latin typeface="맑은 고딕"/>
              </a:rPr>
              <a:t>계기 — 임베디드 환경을 다루며 시스템·프로그램 오류로 인한 중단(Hang)·무한 루프가 반복적으로 발생했고,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9D4DF"/>
                </a:solidFill>
                <a:latin typeface="맑은 고딕"/>
              </a:rPr>
              <a:t>그 원인 분석과 해결의 필요성을 절감했습니다.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9D4DF"/>
                </a:solidFill>
                <a:latin typeface="맑은 고딕"/>
              </a:rPr>
              <a:t>목적 — 리눅스 서버 내 지정 디렉토리의 파일 변경을 실시간 감지하고, 삭제·실행 이력에 대한 감사(Audit) 로그를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C9D4DF"/>
                </a:solidFill>
                <a:latin typeface="맑은 고딕"/>
              </a:rPr>
              <a:t>구축해 보안과 시스템 안정성을 함께 강화합니다.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3429000" cy="566928"/>
          </a:xfrm>
          <a:prstGeom prst="roundRect">
            <a:avLst>
              <a:gd name="adj" fmla="val 18000"/>
            </a:avLst>
          </a:prstGeom>
          <a:solidFill>
            <a:srgbClr val="0E141B"/>
          </a:solidFill>
          <a:ln w="9525">
            <a:solidFill>
              <a:srgbClr val="3DB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3DB88B"/>
                </a:solidFill>
                <a:latin typeface="Consolas"/>
              </a:rPr>
              <a:t>파일 변경
실시간 리스트업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3383280"/>
            <a:ext cx="3429000" cy="566928"/>
          </a:xfrm>
          <a:prstGeom prst="roundRect">
            <a:avLst>
              <a:gd name="adj" fmla="val 18000"/>
            </a:avLst>
          </a:prstGeom>
          <a:solidFill>
            <a:srgbClr val="0E141B"/>
          </a:solidFill>
          <a:ln w="9525">
            <a:solidFill>
              <a:srgbClr val="E87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8734D"/>
                </a:solidFill>
                <a:latin typeface="Consolas"/>
              </a:rPr>
              <a:t>삭제 이벤트
별도 기록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3383280"/>
            <a:ext cx="3429000" cy="566928"/>
          </a:xfrm>
          <a:prstGeom prst="roundRect">
            <a:avLst>
              <a:gd name="adj" fmla="val 18000"/>
            </a:avLst>
          </a:prstGeom>
          <a:solidFill>
            <a:srgbClr val="0E141B"/>
          </a:solidFill>
          <a:ln w="9525">
            <a:solidFill>
              <a:srgbClr val="E85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8554D"/>
                </a:solidFill>
                <a:latin typeface="Consolas"/>
              </a:rPr>
              <a:t>실행(execve)
이벤트 추적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51960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7083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FB3D5"/>
                </a:solidFill>
                <a:latin typeface="Consolas"/>
              </a:rP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634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D4DF"/>
                </a:solidFill>
                <a:latin typeface="맑은 고딕"/>
              </a:rPr>
              <a:t>시스템 중단·무한 루프의 원인을 “누가·언제·무엇을” 단위로 즉시 추적 — 장애 대응 시간을 단축합니다.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02 — 요구사항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03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02 ·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요구사항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37360"/>
            <a:ext cx="5394960" cy="3931920"/>
          </a:xfrm>
          <a:prstGeom prst="roundRect">
            <a:avLst>
              <a:gd name="adj" fmla="val 35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F8FB"/>
                </a:solidFill>
                <a:latin typeface="맑은 고딕"/>
              </a:rPr>
              <a:t>기능적 요구사항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956816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0E141B"/>
          </a:solidFill>
          <a:ln w="9525">
            <a:solidFill>
              <a:srgbClr val="7FB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950" b="1">
                <a:solidFill>
                  <a:srgbClr val="7FB3D5"/>
                </a:solidFill>
                <a:latin typeface="Consolas"/>
              </a:rPr>
              <a:t>FUNCTIONAL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50592"/>
            <a:ext cx="488289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모니터링 대상 경로 하위 전 이벤트를 재귀적(Recursive)으로 감지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로그는 날짜별 로테이션 + 파싱하기 쉬운 포맷(JSON) 유지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이벤트 시각(Timestamp)·종류(Event Type)·절대 경로(File Path) 필수 포함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37360"/>
            <a:ext cx="5394960" cy="3931920"/>
          </a:xfrm>
          <a:prstGeom prst="roundRect">
            <a:avLst>
              <a:gd name="adj" fmla="val 35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F8FB"/>
                </a:solidFill>
                <a:latin typeface="맑은 고딕"/>
              </a:rPr>
              <a:t>비기능적 요구사항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60" y="1956816"/>
            <a:ext cx="1426464" cy="310896"/>
          </a:xfrm>
          <a:prstGeom prst="roundRect">
            <a:avLst>
              <a:gd name="adj" fmla="val 50000"/>
            </a:avLst>
          </a:prstGeom>
          <a:solidFill>
            <a:srgbClr val="0E141B"/>
          </a:solidFill>
          <a:ln w="9525">
            <a:solidFill>
              <a:srgbClr val="F0A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950" b="1">
                <a:solidFill>
                  <a:srgbClr val="F0A63C"/>
                </a:solidFill>
                <a:latin typeface="Consolas"/>
              </a:rPr>
              <a:t>NON-FUNC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450592"/>
            <a:ext cx="488289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서버 CPU·메모리 점유율 최소화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파일 수만 개 이상 유입에도 커널 inotify watch 제한 대응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에이전트 비정상 종료 시에도 무중단 재기동 보장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03 — 기술 스택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04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03 · 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4개 계층으로 설계했다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10789920" cy="896112"/>
          </a:xfrm>
          <a:prstGeom prst="roundRect">
            <a:avLst>
              <a:gd name="adj" fmla="val 80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956816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A2430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7FB3D5"/>
                </a:solidFill>
                <a:latin typeface="Consola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901952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4F8FB"/>
                </a:solidFill>
                <a:latin typeface="맑은 고딕"/>
              </a:rPr>
              <a:t>인프라 &amp; OS 튜닝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24942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7E8E"/>
                </a:solidFill>
                <a:latin typeface="맑은 고딕"/>
              </a:rPr>
              <a:t>RHEL 8.10 · 커널 inotify 한계 돌파 · SELinux/방화벽 튜닝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816351"/>
            <a:ext cx="10789920" cy="896112"/>
          </a:xfrm>
          <a:prstGeom prst="roundRect">
            <a:avLst>
              <a:gd name="adj" fmla="val 80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990087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A2430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7FB3D5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35223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4F8FB"/>
                </a:solidFill>
                <a:latin typeface="맑은 고딕"/>
              </a:rPr>
              <a:t>데이터 수집 · 보안 센서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82695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7E8E"/>
                </a:solidFill>
                <a:latin typeface="맑은 고딕"/>
              </a:rPr>
              <a:t>inotifywait · ClamAV(clamd) · auditd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49622"/>
            <a:ext cx="10789920" cy="896112"/>
          </a:xfrm>
          <a:prstGeom prst="roundRect">
            <a:avLst>
              <a:gd name="adj" fmla="val 80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4023358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A2430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7FB3D5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968494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4F8FB"/>
                </a:solidFill>
                <a:latin typeface="맑은 고딕"/>
              </a:rPr>
              <a:t>미들웨어 · 데이터 정제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315966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7E8E"/>
                </a:solidFill>
                <a:latin typeface="맑은 고딕"/>
              </a:rPr>
              <a:t>Python Watchdog 컨트롤 타워 · systemd 자가 치유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82893"/>
            <a:ext cx="10789920" cy="896112"/>
          </a:xfrm>
          <a:prstGeom prst="roundRect">
            <a:avLst>
              <a:gd name="adj" fmla="val 80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056629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A2430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7FB3D5"/>
                </a:solidFill>
                <a:latin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001765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4F8FB"/>
                </a:solidFill>
                <a:latin typeface="맑은 고딕"/>
              </a:rPr>
              <a:t>시각화 · 웹 서비스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349237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7E8E"/>
                </a:solidFill>
                <a:latin typeface="맑은 고딕"/>
              </a:rPr>
              <a:t>React + Vite + Tailwind 대시보드 · Nginx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03-1 — 인프라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05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03-1 ·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인프라 &amp; OS 튜닝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C9D4DF"/>
                </a:solidFill>
                <a:latin typeface="맑은 고딕"/>
              </a:rPr>
              <a:t>—  RHEL 8.10 (Ootpa) — 보수적이고 안정적인 엔터프라이즈 환경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C9D4DF"/>
                </a:solidFill>
                <a:latin typeface="맑은 고딕"/>
              </a:rPr>
              <a:t>—  대량 메일 파일 유입 시 커널 watch 고갈로 인한 이벤트 누수(No space left) 방지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C9D4DF"/>
                </a:solidFill>
                <a:latin typeface="맑은 고딕"/>
              </a:rPr>
              <a:t>—  Nginx ↔ 내부 로그 디렉토리 간 SELinux 라벨링 및 포트(80) 개방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4937760" cy="2103120"/>
          </a:xfrm>
          <a:prstGeom prst="roundRect">
            <a:avLst>
              <a:gd name="adj" fmla="val 4000"/>
            </a:avLst>
          </a:prstGeom>
          <a:solidFill>
            <a:srgbClr val="1A2430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38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/etc/sysctl.conf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7FB3D5"/>
                </a:solidFill>
                <a:latin typeface="Consolas"/>
              </a:rPr>
              <a:t>$ </a:t>
            </a:r>
            <a:r>
              <a:rPr sz="1150" b="0">
                <a:solidFill>
                  <a:srgbClr val="C9D4DF"/>
                </a:solidFill>
                <a:latin typeface="Consolas"/>
              </a:rPr>
              <a:t>echo "fs.inotify.max_user_watches=524288" \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C9D4DF"/>
                </a:solidFill>
                <a:latin typeface="Consolas"/>
              </a:rPr>
              <a:t>    | sudo tee -a /etc/sysctl.conf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7FB3D5"/>
                </a:solidFill>
                <a:latin typeface="Consolas"/>
              </a:rPr>
              <a:t>$ </a:t>
            </a:r>
            <a:r>
              <a:rPr sz="1150" b="0">
                <a:solidFill>
                  <a:srgbClr val="C9D4DF"/>
                </a:solidFill>
                <a:latin typeface="Consolas"/>
              </a:rPr>
              <a:t>sudo sysctl -p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7E8E"/>
                </a:solidFill>
                <a:latin typeface="Consolas"/>
              </a:rPr>
              <a:t>fs.inotify.max_user_watches = 524288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03-2 — 센서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06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03-2 · SENSORS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데이터 수집 · 보안 센서 3종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3566160" cy="2377440"/>
          </a:xfrm>
          <a:prstGeom prst="roundRect">
            <a:avLst>
              <a:gd name="adj" fmla="val 35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0299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F8FB"/>
                </a:solidFill>
                <a:latin typeface="맑은 고딕"/>
              </a:rPr>
              <a:t>inotifywait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2048256"/>
            <a:ext cx="630936" cy="310896"/>
          </a:xfrm>
          <a:prstGeom prst="roundRect">
            <a:avLst>
              <a:gd name="adj" fmla="val 50000"/>
            </a:avLst>
          </a:prstGeom>
          <a:solidFill>
            <a:srgbClr val="0E141B"/>
          </a:solidFill>
          <a:ln w="9525">
            <a:solidFill>
              <a:srgbClr val="7FB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950" b="1">
                <a:solidFill>
                  <a:srgbClr val="7FB3D5"/>
                </a:solidFill>
                <a:latin typeface="Consolas"/>
              </a:rPr>
              <a:t>경량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542032"/>
            <a:ext cx="305409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메일 디렉토리를 재귀 감시하며 1초 이내 이벤트를 캡처. CPU 점유율 최소화.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828800"/>
            <a:ext cx="3566160" cy="2377440"/>
          </a:xfrm>
          <a:prstGeom prst="roundRect">
            <a:avLst>
              <a:gd name="adj" fmla="val 35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20299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F8FB"/>
                </a:solidFill>
                <a:latin typeface="맑은 고딕"/>
              </a:rPr>
              <a:t>ClamAV / clamd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048256"/>
            <a:ext cx="763524" cy="310896"/>
          </a:xfrm>
          <a:prstGeom prst="roundRect">
            <a:avLst>
              <a:gd name="adj" fmla="val 50000"/>
            </a:avLst>
          </a:prstGeom>
          <a:solidFill>
            <a:srgbClr val="0E141B"/>
          </a:solidFill>
          <a:ln w="9525">
            <a:solidFill>
              <a:srgbClr val="F0A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950" b="1">
                <a:solidFill>
                  <a:srgbClr val="F0A63C"/>
                </a:solidFill>
                <a:latin typeface="Consolas"/>
              </a:rPr>
              <a:t>스캐너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542032"/>
            <a:ext cx="305409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시그니처를 메모리에 상주(데몬화)시켜 소켓 통신으로 즉시 검사·격리(quarantine).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828800"/>
            <a:ext cx="3566160" cy="2377440"/>
          </a:xfrm>
          <a:prstGeom prst="roundRect">
            <a:avLst>
              <a:gd name="adj" fmla="val 35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20299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F8FB"/>
                </a:solidFill>
                <a:latin typeface="맑은 고딕"/>
              </a:rPr>
              <a:t>auditd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2048256"/>
            <a:ext cx="630936" cy="310896"/>
          </a:xfrm>
          <a:prstGeom prst="roundRect">
            <a:avLst>
              <a:gd name="adj" fmla="val 50000"/>
            </a:avLst>
          </a:prstGeom>
          <a:solidFill>
            <a:srgbClr val="0E141B"/>
          </a:solidFill>
          <a:ln w="9525">
            <a:solidFill>
              <a:srgbClr val="E855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950" b="1">
                <a:solidFill>
                  <a:srgbClr val="E8554D"/>
                </a:solidFill>
                <a:latin typeface="Consolas"/>
              </a:rPr>
              <a:t>커널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2542032"/>
            <a:ext cx="305409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execve 시스템 콜을 커널 단에서 가로채 “누가 실행했는가”를 기록. 우회 불가능.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80560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59943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FB3D5"/>
                </a:solidFill>
                <a:latin typeface="Consolas"/>
              </a:rPr>
              <a:t>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920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9D4DF"/>
                </a:solidFill>
                <a:latin typeface="맑은 고딕"/>
              </a:rPr>
              <a:t>가벼운 트리거가 대기하다가 이벤트 발생 시에만 무거운 검사를 깨우는 구조 — 관리 리소스를 최소화하면서도 우회 불가능한 커널 기록으로 감사 신뢰성을 확보합니다.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03-3 — 미들웨어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07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03-3 ·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Python Watchdog — 컨트롤 타워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60350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C9D4DF"/>
                </a:solidFill>
                <a:latin typeface="맑은 고딕"/>
              </a:rPr>
              <a:t>—  각 센서가 남긴 텍스트 로그를 실시간 파싱해 정형 JSON(lhams_audit.json)으로 적재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C9D4DF"/>
                </a:solidFill>
                <a:latin typeface="맑은 고딕"/>
              </a:rPr>
              <a:t>—  TimedRotatingFileHandler로 자정마다 로그 자동 로테이션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C9D4DF"/>
                </a:solidFill>
                <a:latin typeface="맑은 고딕"/>
              </a:rPr>
              <a:t>—  화이트리스트/블랙리스트 정규식 기반 필터링, 이상 징후 시 Slack Webhook 호출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828800"/>
            <a:ext cx="4480560" cy="1828800"/>
          </a:xfrm>
          <a:prstGeom prst="roundRect">
            <a:avLst>
              <a:gd name="adj" fmla="val 35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2592" y="2029968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F8FB"/>
                </a:solidFill>
                <a:latin typeface="맑은 고딕"/>
              </a:rPr>
              <a:t>systemd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2048256"/>
            <a:ext cx="1028700" cy="310896"/>
          </a:xfrm>
          <a:prstGeom prst="roundRect">
            <a:avLst>
              <a:gd name="adj" fmla="val 50000"/>
            </a:avLst>
          </a:prstGeom>
          <a:solidFill>
            <a:srgbClr val="0E141B"/>
          </a:solidFill>
          <a:ln w="9525">
            <a:solidFill>
              <a:srgbClr val="F0A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950" b="1">
                <a:solidFill>
                  <a:srgbClr val="F0A63C"/>
                </a:solidFill>
                <a:latin typeface="Consolas"/>
              </a:rPr>
              <a:t>자가 치유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2542032"/>
            <a:ext cx="396849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Watchdog 프로세스가 비정상 종료돼도 Restart=always로 5초 이내 강제 재시작 — 24/7 보안 공백을 방지합니다.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97680"/>
            <a:ext cx="10789920" cy="1005840"/>
          </a:xfrm>
          <a:prstGeom prst="roundRect">
            <a:avLst>
              <a:gd name="adj" fmla="val 6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165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FB3D5"/>
                </a:solidFill>
                <a:latin typeface="Consolas"/>
              </a:rP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09160"/>
            <a:ext cx="10332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9D4DF"/>
                </a:solidFill>
                <a:latin typeface="맑은 고딕"/>
              </a:rPr>
              <a:t>에이전트가 죽어도 시스템이 스스로 복구되므로, 야간·주말에도 감시 공백이 발생하지 않습니다.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03-4 — 프론트엔드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08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03-4 · FRONTEND &amp;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시각화 · 웹 서비스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3566160" cy="2377440"/>
          </a:xfrm>
          <a:prstGeom prst="roundRect">
            <a:avLst>
              <a:gd name="adj" fmla="val 35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0299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F8FB"/>
                </a:solidFill>
                <a:latin typeface="맑은 고딕"/>
              </a:rPr>
              <a:t>Node.js 20.x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2048256"/>
            <a:ext cx="763524" cy="310896"/>
          </a:xfrm>
          <a:prstGeom prst="roundRect">
            <a:avLst>
              <a:gd name="adj" fmla="val 50000"/>
            </a:avLst>
          </a:prstGeom>
          <a:solidFill>
            <a:srgbClr val="0E141B"/>
          </a:solidFill>
          <a:ln w="9525">
            <a:solidFill>
              <a:srgbClr val="7FB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950" b="1">
                <a:solidFill>
                  <a:srgbClr val="7FB3D5"/>
                </a:solidFill>
                <a:latin typeface="Consolas"/>
              </a:rPr>
              <a:t>런타임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542032"/>
            <a:ext cx="305409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RHEL 8 기본 10.x 잠금을 해제하고 최신 런타임으로 완전 마이그레이션.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828800"/>
            <a:ext cx="3566160" cy="2377440"/>
          </a:xfrm>
          <a:prstGeom prst="roundRect">
            <a:avLst>
              <a:gd name="adj" fmla="val 35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20299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F8FB"/>
                </a:solidFill>
                <a:latin typeface="맑은 고딕"/>
              </a:rPr>
              <a:t>React + Vite + Tailwind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048256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0E141B"/>
          </a:solidFill>
          <a:ln w="9525">
            <a:solidFill>
              <a:srgbClr val="7FB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950" b="1">
                <a:solidFill>
                  <a:srgbClr val="7FB3D5"/>
                </a:solidFill>
                <a:latin typeface="Consolas"/>
              </a:rPr>
              <a:t>대시보드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542032"/>
            <a:ext cx="305409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JSON 로그를 3초 주기로 폴링, 새로고침 없이 위험 인자를 하이라이트하는 관제 UI.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1828800"/>
            <a:ext cx="3566160" cy="2377440"/>
          </a:xfrm>
          <a:prstGeom prst="roundRect">
            <a:avLst>
              <a:gd name="adj" fmla="val 35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19872" y="20299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F8FB"/>
                </a:solidFill>
                <a:latin typeface="맑은 고딕"/>
              </a:rPr>
              <a:t>Nginx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2048256"/>
            <a:ext cx="763524" cy="310896"/>
          </a:xfrm>
          <a:prstGeom prst="roundRect">
            <a:avLst>
              <a:gd name="adj" fmla="val 50000"/>
            </a:avLst>
          </a:prstGeom>
          <a:solidFill>
            <a:srgbClr val="0E141B"/>
          </a:solidFill>
          <a:ln w="9525">
            <a:solidFill>
              <a:srgbClr val="7FB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950" b="1">
                <a:solidFill>
                  <a:srgbClr val="7FB3D5"/>
                </a:solidFill>
                <a:latin typeface="Consolas"/>
              </a:rPr>
              <a:t>웹서버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2542032"/>
            <a:ext cx="3054096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개발용 임시 서버 제거, 정적 빌드(dist) 배포 및 로그 경로 Alias 연동.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04 — 아키텍처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09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04 ·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세 센서를 하나로 묶는 하이브리드 구조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9456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77440"/>
            <a:ext cx="21122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4F8FB"/>
                </a:solidFill>
                <a:latin typeface="맑은 고딕"/>
              </a:rPr>
              <a:t>inotifywait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971800"/>
            <a:ext cx="21122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E7E8E"/>
                </a:solidFill>
                <a:latin typeface="맑은 고딕"/>
              </a:rPr>
              <a:t>파일 생성·수정·삭제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E7E8E"/>
                </a:solidFill>
                <a:latin typeface="맑은 고딕"/>
              </a:rPr>
              <a:t>경량 실시간 트리거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834640"/>
            <a:ext cx="320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6E7E8E"/>
                </a:solidFill>
                <a:latin typeface="맑은 고딕"/>
              </a:rPr>
              <a:t>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219456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2377440"/>
            <a:ext cx="21122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4F8FB"/>
                </a:solidFill>
                <a:latin typeface="맑은 고딕"/>
              </a:rPr>
              <a:t>auditd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971800"/>
            <a:ext cx="21122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E7E8E"/>
                </a:solidFill>
                <a:latin typeface="맑은 고딕"/>
              </a:rPr>
              <a:t>execve 시스템 콜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E7E8E"/>
                </a:solidFill>
                <a:latin typeface="맑은 고딕"/>
              </a:rPr>
              <a:t>커널 레벨 실행 추적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834640"/>
            <a:ext cx="320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6E7E8E"/>
                </a:solidFill>
                <a:latin typeface="맑은 고딕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19456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6242E"/>
          </a:solidFill>
          <a:ln w="15875">
            <a:solidFill>
              <a:srgbClr val="7FB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377440"/>
            <a:ext cx="21122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4F8FB"/>
                </a:solidFill>
                <a:latin typeface="맑은 고딕"/>
              </a:rPr>
              <a:t>Python</a:t>
            </a:r>
          </a:p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4F8FB"/>
                </a:solidFill>
                <a:latin typeface="맑은 고딕"/>
              </a:rPr>
              <a:t>Watchdog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971800"/>
            <a:ext cx="21122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E7E8E"/>
                </a:solidFill>
                <a:latin typeface="맑은 고딕"/>
              </a:rPr>
              <a:t>로그 파싱·필터링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E7E8E"/>
                </a:solidFill>
                <a:latin typeface="맑은 고딕"/>
              </a:rPr>
              <a:t>JSON 정제·알림 발송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834640"/>
            <a:ext cx="320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6E7E8E"/>
                </a:solidFill>
                <a:latin typeface="맑은 고딕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219456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288" y="2377440"/>
            <a:ext cx="211226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4F8FB"/>
                </a:solidFill>
                <a:latin typeface="맑은 고딕"/>
              </a:rPr>
              <a:t>React</a:t>
            </a:r>
          </a:p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4F8FB"/>
                </a:solidFill>
                <a:latin typeface="맑은 고딕"/>
              </a:rPr>
              <a:t>대시보드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2971800"/>
            <a:ext cx="211226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E7E8E"/>
                </a:solidFill>
                <a:latin typeface="맑은 고딕"/>
              </a:rPr>
              <a:t>3초 폴링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E7E8E"/>
                </a:solidFill>
                <a:latin typeface="맑은 고딕"/>
              </a:rPr>
              <a:t>실시간 시각화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343400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622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FB3D5"/>
                </a:solidFill>
                <a:latin typeface="Consolas"/>
              </a:rP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7548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9D4DF"/>
                </a:solidFill>
                <a:latin typeface="맑은 고딕"/>
              </a:rPr>
              <a:t>inotify만으로는 놓치는 ‘실행(execve)’을 auditd가 커널 단에서 포착 — 패치 파일로 위장한 악성 프로세스 실행까지 잡아내 보안 사각지대를 제거합니다.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05 — 환경 구성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10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05 ·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환경 구성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5394960" cy="2377440"/>
          </a:xfrm>
          <a:prstGeom prst="roundRect">
            <a:avLst>
              <a:gd name="adj" fmla="val 4000"/>
            </a:avLst>
          </a:prstGeom>
          <a:solidFill>
            <a:srgbClr val="1A2430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38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cat /etc/os-release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7E8E"/>
                </a:solidFill>
                <a:latin typeface="Consolas"/>
              </a:rPr>
              <a:t>NAME="Red Hat Enterprise Linux"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7E8E"/>
                </a:solidFill>
                <a:latin typeface="Consolas"/>
              </a:rPr>
              <a:t>VERSION="8.10 (Ootpa)"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7E8E"/>
                </a:solidFill>
                <a:latin typeface="Consolas"/>
              </a:rPr>
              <a:t>ID="rhel"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7E8E"/>
                </a:solidFill>
                <a:latin typeface="Consolas"/>
              </a:rPr>
              <a:t>PLATFORM_ID="platform:el8"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828800"/>
            <a:ext cx="5394960" cy="2377440"/>
          </a:xfrm>
          <a:prstGeom prst="roundRect">
            <a:avLst>
              <a:gd name="adj" fmla="val 4000"/>
            </a:avLst>
          </a:prstGeom>
          <a:solidFill>
            <a:srgbClr val="1A2430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38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감시 디렉토리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3172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7FB3D5"/>
                </a:solidFill>
                <a:latin typeface="Consolas"/>
              </a:rPr>
              <a:t>$ </a:t>
            </a:r>
            <a:r>
              <a:rPr sz="1150" b="0">
                <a:solidFill>
                  <a:srgbClr val="C9D4DF"/>
                </a:solidFill>
                <a:latin typeface="Consolas"/>
              </a:rPr>
              <a:t>cd /mail/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7FB3D5"/>
                </a:solidFill>
                <a:latin typeface="Consolas"/>
              </a:rPr>
              <a:t>$ </a:t>
            </a:r>
            <a:r>
              <a:rPr sz="1150" b="0">
                <a:solidFill>
                  <a:srgbClr val="C9D4DF"/>
                </a:solidFill>
                <a:latin typeface="Consolas"/>
              </a:rPr>
              <a:t>mkdir -p inotifywatch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7FB3D5"/>
                </a:solidFill>
                <a:latin typeface="Consolas"/>
              </a:rPr>
              <a:t>$ </a:t>
            </a:r>
            <a:r>
              <a:rPr sz="1150" b="0">
                <a:solidFill>
                  <a:srgbClr val="C9D4DF"/>
                </a:solidFill>
                <a:latin typeface="Consolas"/>
              </a:rPr>
              <a:t>cd inotifywatch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06 — 실습 1·2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11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06 · PRACTICE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설치 &amp; 기본 변경 감지 테스트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5394960" cy="3108960"/>
          </a:xfrm>
          <a:prstGeom prst="roundRect">
            <a:avLst>
              <a:gd name="adj" fmla="val 4000"/>
            </a:avLst>
          </a:prstGeom>
          <a:solidFill>
            <a:srgbClr val="1A2430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38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패키지 설치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50292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7FB3D5"/>
                </a:solidFill>
                <a:latin typeface="Consolas"/>
              </a:rPr>
              <a:t>$ </a:t>
            </a:r>
            <a:r>
              <a:rPr sz="1100" b="0">
                <a:solidFill>
                  <a:srgbClr val="C9D4DF"/>
                </a:solidFill>
                <a:latin typeface="Consolas"/>
              </a:rPr>
              <a:t>yum install -y inotify-tools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7FB3D5"/>
                </a:solidFill>
                <a:latin typeface="Consolas"/>
              </a:rPr>
              <a:t>$ </a:t>
            </a:r>
            <a:r>
              <a:rPr sz="1100" b="0">
                <a:solidFill>
                  <a:srgbClr val="C9D4DF"/>
                </a:solidFill>
                <a:latin typeface="Consolas"/>
              </a:rPr>
              <a:t>dnf install -y epel-release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7FB3D5"/>
                </a:solidFill>
                <a:latin typeface="Consolas"/>
              </a:rPr>
              <a:t>$ </a:t>
            </a:r>
            <a:r>
              <a:rPr sz="1100" b="0">
                <a:solidFill>
                  <a:srgbClr val="C9D4DF"/>
                </a:solidFill>
                <a:latin typeface="Consolas"/>
              </a:rPr>
              <a:t>dnf install -y clamav clamav-update clamd</a:t>
            </a:r>
          </a:p>
          <a:p>
            <a:pPr algn="l">
              <a:lnSpc>
                <a:spcPct val="130000"/>
              </a:lnSpc>
            </a:pPr>
            <a:r>
              <a:rPr sz="1100" b="1">
                <a:solidFill>
                  <a:srgbClr val="6E7E8E"/>
                </a:solidFill>
                <a:latin typeface="Consolas"/>
              </a:rPr>
              <a:t># clamd: 시그니처 상주형 데몬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828800"/>
            <a:ext cx="5394960" cy="3108960"/>
          </a:xfrm>
          <a:prstGeom prst="roundRect">
            <a:avLst>
              <a:gd name="adj" fmla="val 4000"/>
            </a:avLst>
          </a:prstGeom>
          <a:solidFill>
            <a:srgbClr val="1A2430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938528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inotifywait -m -r -e create,modify,delete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31720"/>
            <a:ext cx="50292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E7E8E"/>
                </a:solidFill>
                <a:latin typeface="Consolas"/>
              </a:rPr>
              <a:t>Setting up watches.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E7E8E"/>
                </a:solidFill>
                <a:latin typeface="Consolas"/>
              </a:rPr>
              <a:t>Watches established.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E7E8E"/>
                </a:solidFill>
                <a:latin typeface="Consolas"/>
              </a:rPr>
              <a:t>test_monitor/ </a:t>
            </a:r>
            <a:r>
              <a:rPr sz="1100" b="1">
                <a:solidFill>
                  <a:srgbClr val="3DB88B"/>
                </a:solidFill>
                <a:latin typeface="Consolas"/>
              </a:rPr>
              <a:t>CREATE</a:t>
            </a:r>
            <a:r>
              <a:rPr sz="1100" b="0">
                <a:solidFill>
                  <a:srgbClr val="6E7E8E"/>
                </a:solidFill>
                <a:latin typeface="Consolas"/>
              </a:rPr>
              <a:t> file1.txt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E7E8E"/>
                </a:solidFill>
                <a:latin typeface="Consolas"/>
              </a:rPr>
              <a:t>test_monitor/ </a:t>
            </a:r>
            <a:r>
              <a:rPr sz="1100" b="1">
                <a:solidFill>
                  <a:srgbClr val="7FB3D5"/>
                </a:solidFill>
                <a:latin typeface="Consolas"/>
              </a:rPr>
              <a:t>MODIFY</a:t>
            </a:r>
            <a:r>
              <a:rPr sz="1100" b="0">
                <a:solidFill>
                  <a:srgbClr val="6E7E8E"/>
                </a:solidFill>
                <a:latin typeface="Consolas"/>
              </a:rPr>
              <a:t> file1.txt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6E7E8E"/>
                </a:solidFill>
                <a:latin typeface="Consolas"/>
              </a:rPr>
              <a:t>test_monitor/ </a:t>
            </a:r>
            <a:r>
              <a:rPr sz="1100" b="1">
                <a:solidFill>
                  <a:srgbClr val="E8734D"/>
                </a:solidFill>
                <a:latin typeface="Consolas"/>
              </a:rPr>
              <a:t>DELETE</a:t>
            </a:r>
            <a:r>
              <a:rPr sz="1100" b="0">
                <a:solidFill>
                  <a:srgbClr val="6E7E8E"/>
                </a:solidFill>
                <a:latin typeface="Consolas"/>
              </a:rPr>
              <a:t> file1.txt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06 — 실습 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12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06 · PRACTICE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realtime_monitor.sh — 핵심 파이프라인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10789920" cy="1965960"/>
          </a:xfrm>
          <a:prstGeom prst="roundRect">
            <a:avLst>
              <a:gd name="adj" fmla="val 3000"/>
            </a:avLst>
          </a:prstGeom>
          <a:solidFill>
            <a:srgbClr val="1A2430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38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realtime_monitor.sh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C9D4DF"/>
                </a:solidFill>
                <a:latin typeface="Consolas"/>
              </a:rPr>
              <a:t>inotifywait -m -r -e create,close_write,moved_to \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C9D4DF"/>
                </a:solidFill>
                <a:latin typeface="Consolas"/>
              </a:rPr>
              <a:t>  --exclude </a:t>
            </a:r>
            <a:r>
              <a:rPr sz="1200" b="0">
                <a:solidFill>
                  <a:srgbClr val="6E7E8E"/>
                </a:solidFill>
                <a:latin typeface="Consolas"/>
              </a:rPr>
              <a:t>'\.(swp|swx|swpx)$|/\.'</a:t>
            </a:r>
            <a:r>
              <a:rPr sz="1200" b="0">
                <a:solidFill>
                  <a:srgbClr val="C9D4DF"/>
                </a:solidFill>
                <a:latin typeface="Consolas"/>
              </a:rPr>
              <a:t> "$WATCH_DIR" --format </a:t>
            </a:r>
            <a:r>
              <a:rPr sz="1200" b="0">
                <a:solidFill>
                  <a:srgbClr val="6E7E8E"/>
                </a:solidFill>
                <a:latin typeface="Consolas"/>
              </a:rPr>
              <a:t>'%w%f'</a:t>
            </a:r>
            <a:r>
              <a:rPr sz="1200" b="0">
                <a:solidFill>
                  <a:srgbClr val="C9D4DF"/>
                </a:solidFill>
                <a:latin typeface="Consolas"/>
              </a:rPr>
              <a:t> | while read FILE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C9D4DF"/>
                </a:solidFill>
                <a:latin typeface="Consolas"/>
              </a:rPr>
              <a:t>do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C9D4DF"/>
                </a:solidFill>
                <a:latin typeface="Consolas"/>
              </a:rPr>
              <a:t>  SCAN_RESULT=$(sudo clamdscan </a:t>
            </a:r>
            <a:r>
              <a:rPr sz="1200" b="0">
                <a:solidFill>
                  <a:srgbClr val="7FB3D5"/>
                </a:solidFill>
                <a:latin typeface="Consolas"/>
              </a:rPr>
              <a:t>--stream --fdpass --no-summary</a:t>
            </a:r>
            <a:r>
              <a:rPr sz="1200" b="0">
                <a:solidFill>
                  <a:srgbClr val="C9D4DF"/>
                </a:solidFill>
                <a:latin typeface="Consolas"/>
              </a:rPr>
              <a:t> "$FILE")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6E7E8E"/>
                </a:solidFill>
                <a:latin typeface="Consolas"/>
              </a:rPr>
              <a:t>  # FOUND 감지 시 자동 격리(quarantine)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C9D4DF"/>
                </a:solidFill>
                <a:latin typeface="Consolas"/>
              </a:rPr>
              <a:t>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23360"/>
            <a:ext cx="5394960" cy="1463040"/>
          </a:xfrm>
          <a:prstGeom prst="roundRect">
            <a:avLst>
              <a:gd name="adj" fmla="val 35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22452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F8FB"/>
                </a:solidFill>
                <a:latin typeface="맑은 고딕"/>
              </a:rPr>
              <a:t>--fdpass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242816"/>
            <a:ext cx="1161288" cy="310896"/>
          </a:xfrm>
          <a:prstGeom prst="roundRect">
            <a:avLst>
              <a:gd name="adj" fmla="val 50000"/>
            </a:avLst>
          </a:prstGeom>
          <a:solidFill>
            <a:srgbClr val="0E141B"/>
          </a:solidFill>
          <a:ln w="9525">
            <a:solidFill>
              <a:srgbClr val="7FB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950" b="1">
                <a:solidFill>
                  <a:srgbClr val="7FB3D5"/>
                </a:solidFill>
                <a:latin typeface="Consolas"/>
              </a:rPr>
              <a:t>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736592"/>
            <a:ext cx="48828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파일 디스크립터를 직접 전달해 권한 문제 없이 검사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023360"/>
            <a:ext cx="5394960" cy="1463040"/>
          </a:xfrm>
          <a:prstGeom prst="roundRect">
            <a:avLst>
              <a:gd name="adj" fmla="val 35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22452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F8FB"/>
                </a:solidFill>
                <a:latin typeface="맑은 고딕"/>
              </a:rPr>
              <a:t>--no-summary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0" y="4242816"/>
            <a:ext cx="1161288" cy="310896"/>
          </a:xfrm>
          <a:prstGeom prst="roundRect">
            <a:avLst>
              <a:gd name="adj" fmla="val 50000"/>
            </a:avLst>
          </a:prstGeom>
          <a:solidFill>
            <a:srgbClr val="0E141B"/>
          </a:solidFill>
          <a:ln w="9525">
            <a:solidFill>
              <a:srgbClr val="7FB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950" b="1">
                <a:solidFill>
                  <a:srgbClr val="7FB3D5"/>
                </a:solidFill>
                <a:latin typeface="Consolas"/>
              </a:rPr>
              <a:t>OPTION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736592"/>
            <a:ext cx="48828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요약 정보 없이 검사 결과만 간결하게 출력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06 — 실습 4·5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13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06 · PRACTICE 4–5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악성코드 유입 → 실시간 격리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10789920" cy="2331720"/>
          </a:xfrm>
          <a:prstGeom prst="roundRect">
            <a:avLst>
              <a:gd name="adj" fmla="val 3000"/>
            </a:avLst>
          </a:prstGeom>
          <a:solidFill>
            <a:srgbClr val="1A2430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38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./realtime_monitor.sh ../test_monitor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7E8E"/>
                </a:solidFill>
                <a:latin typeface="Consolas"/>
              </a:rPr>
              <a:t>[21:42:45] Detected: clean.txt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7E8E"/>
                </a:solidFill>
                <a:latin typeface="Consolas"/>
              </a:rPr>
              <a:t>[21:42:45] </a:t>
            </a:r>
            <a:r>
              <a:rPr sz="1150" b="1">
                <a:solidFill>
                  <a:srgbClr val="3DB88B"/>
                </a:solidFill>
                <a:latin typeface="Consolas"/>
              </a:rPr>
              <a:t>Clean</a:t>
            </a:r>
            <a:r>
              <a:rPr sz="1150" b="0">
                <a:solidFill>
                  <a:srgbClr val="6E7E8E"/>
                </a:solidFill>
                <a:latin typeface="Consolas"/>
              </a:rPr>
              <a:t>: clean.txt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7E8E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7E8E"/>
                </a:solidFill>
                <a:latin typeface="Consolas"/>
              </a:rPr>
              <a:t>[03:57:25] Detected: malware_test.com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7E8E"/>
                </a:solidFill>
                <a:latin typeface="Consolas"/>
              </a:rPr>
              <a:t>[03:57:28] </a:t>
            </a:r>
            <a:r>
              <a:rPr sz="1150" b="1">
                <a:solidFill>
                  <a:srgbClr val="E8554D"/>
                </a:solidFill>
                <a:latin typeface="Consolas"/>
              </a:rPr>
              <a:t>MALWARE DETECTED</a:t>
            </a:r>
            <a:r>
              <a:rPr sz="1150" b="0">
                <a:solidFill>
                  <a:srgbClr val="6E7E8E"/>
                </a:solidFill>
                <a:latin typeface="Consolas"/>
              </a:rPr>
              <a:t>: malware_test.com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7E8E"/>
                </a:solidFill>
                <a:latin typeface="Consolas"/>
              </a:rPr>
              <a:t>            Eicar-Test-Signature FOUND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7E8E"/>
                </a:solidFill>
                <a:latin typeface="Consolas"/>
              </a:rPr>
              <a:t>[03:57:28] </a:t>
            </a:r>
            <a:r>
              <a:rPr sz="1150" b="1">
                <a:solidFill>
                  <a:srgbClr val="E8554D"/>
                </a:solidFill>
                <a:latin typeface="Consolas"/>
              </a:rPr>
              <a:t>Quarantined</a:t>
            </a:r>
            <a:r>
              <a:rPr sz="1150" b="0">
                <a:solidFill>
                  <a:srgbClr val="6E7E8E"/>
                </a:solidFill>
                <a:latin typeface="Consolas"/>
              </a:rPr>
              <a:t> to: clamav-realtime-protection/quarantine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434840"/>
            <a:ext cx="10789920" cy="1051560"/>
          </a:xfrm>
          <a:prstGeom prst="roundRect">
            <a:avLst>
              <a:gd name="adj" fmla="val 6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55371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FB3D5"/>
                </a:solidFill>
                <a:latin typeface="Consolas"/>
              </a:rP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463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9D4DF"/>
                </a:solidFill>
                <a:latin typeface="맑은 고딕"/>
              </a:rPr>
              <a:t>실제 위협(EICAR 테스트 시그니처) 유입을 사람 개입 없이 자동 탐지·격리 — 확산 전에 즉시 차단된 것을 라이브로 확인할 수 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07 — 대시보드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14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07 ·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관제 대시보드 — 실행 화면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E7E8E"/>
                </a:solidFill>
                <a:latin typeface="맑은 고딕"/>
              </a:rPr>
              <a:t>React + Tailwind/SCSS, 3초 폴링 · “심야 관제실” 다크 테마 — 아래는 오늘 로컬 환경에서 직접 구동해 캡처한 실제 화면입니다.</a:t>
            </a:r>
          </a:p>
        </p:txBody>
      </p:sp>
      <p:pic>
        <p:nvPicPr>
          <p:cNvPr id="12" name="Picture 11" descr="dashboard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148840"/>
            <a:ext cx="9601200" cy="675084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298448" y="2148840"/>
            <a:ext cx="9601200" cy="6750843"/>
          </a:xfrm>
          <a:prstGeom prst="rect">
            <a:avLst/>
          </a:prstGeom>
          <a:noFill/>
          <a:ln w="12700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08 — 백엔드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15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08 · BACKEND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Python Watchdog — JSON 로깅 구조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5394960" cy="3108960"/>
          </a:xfrm>
          <a:prstGeom prst="roundRect">
            <a:avLst>
              <a:gd name="adj" fmla="val 4000"/>
            </a:avLst>
          </a:prstGeom>
          <a:solidFill>
            <a:srgbClr val="1A2430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38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lhams_audit.json 필드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50292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C9D4DF"/>
                </a:solidFill>
                <a:latin typeface="Consolas"/>
              </a:rPr>
              <a:t>{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7FB3D5"/>
                </a:solidFill>
                <a:latin typeface="Consolas"/>
              </a:rPr>
              <a:t>  "timestamp"</a:t>
            </a:r>
            <a:r>
              <a:rPr sz="1150" b="0">
                <a:solidFill>
                  <a:srgbClr val="C9D4DF"/>
                </a:solidFill>
                <a:latin typeface="Consolas"/>
              </a:rPr>
              <a:t>: "2026-07-10 21:42:45",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7FB3D5"/>
                </a:solidFill>
                <a:latin typeface="Consolas"/>
              </a:rPr>
              <a:t>  "event_type"</a:t>
            </a:r>
            <a:r>
              <a:rPr sz="1150" b="0">
                <a:solidFill>
                  <a:srgbClr val="C9D4DF"/>
                </a:solidFill>
                <a:latin typeface="Consolas"/>
              </a:rPr>
              <a:t>: "MALWARE_DETECTED",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7FB3D5"/>
                </a:solidFill>
                <a:latin typeface="Consolas"/>
              </a:rPr>
              <a:t>  "file_path"</a:t>
            </a:r>
            <a:r>
              <a:rPr sz="1150" b="0">
                <a:solidFill>
                  <a:srgbClr val="C9D4DF"/>
                </a:solidFill>
                <a:latin typeface="Consolas"/>
              </a:rPr>
              <a:t>: "/mail/.../malware_test.com",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7FB3D5"/>
                </a:solidFill>
                <a:latin typeface="Consolas"/>
              </a:rPr>
              <a:t>  "user"</a:t>
            </a:r>
            <a:r>
              <a:rPr sz="1150" b="0">
                <a:solidFill>
                  <a:srgbClr val="C9D4DF"/>
                </a:solidFill>
                <a:latin typeface="Consolas"/>
              </a:rPr>
              <a:t>: "www-data",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7FB3D5"/>
                </a:solidFill>
                <a:latin typeface="Consolas"/>
              </a:rPr>
              <a:t>  "risk_level"</a:t>
            </a:r>
            <a:r>
              <a:rPr sz="1150" b="0">
                <a:solidFill>
                  <a:srgbClr val="C9D4DF"/>
                </a:solidFill>
                <a:latin typeface="Consolas"/>
              </a:rPr>
              <a:t>: "High"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C9D4DF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51206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C9D4DF"/>
                </a:solidFill>
                <a:latin typeface="맑은 고딕"/>
              </a:rPr>
              <a:t>—  on_created / on_modified / on_deleted / on_moved 훅으로 전 이벤트 포착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C9D4DF"/>
                </a:solidFill>
                <a:latin typeface="맑은 고딕"/>
              </a:rPr>
              <a:t>—  생성·수정 시 scan_malware()가 clamdscan 호출 → 탐지 시 risk_level 자동 격상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C9D4DF"/>
                </a:solidFill>
                <a:latin typeface="맑은 고딕"/>
              </a:rPr>
              <a:t>—  ausearch 연동으로 파일 소유자(owner)와 별개로 실제 행위자(auid)까지 함께 기록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C9D4DF"/>
                </a:solidFill>
                <a:latin typeface="맑은 고딕"/>
              </a:rPr>
              <a:t>—  최신 200건만 유지 (MAX_JSON_EVENTS)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09 — 실행 검증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16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09 · VERIFIED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로컬 실행 검증 (Windows 개발환경)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107899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C9D4DF"/>
                </a:solidFill>
                <a:latin typeface="맑은 고딕"/>
              </a:rPr>
              <a:t>—  frontend/ 에 npm install → npm run dev 로 Vite 대시보드를 http://localhost:5173 에 기동, Headless Chromium으로 렌더링 확인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C9D4DF"/>
                </a:solidFill>
                <a:latin typeface="맑은 고딕"/>
              </a:rPr>
              <a:t>—  agent/lhams_watchdog.py 는 import pwd (POSIX 전용) 때문에 Windows에서 즉시 크래시 — pwd를 optional import로 바꾸고 조회 지점 2곳에 가드 추가 (RHEL 동작은 그대로 유지)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C9D4DF"/>
                </a:solidFill>
                <a:latin typeface="맑은 고딕"/>
              </a:rPr>
              <a:t>—  watchdog 패키지 설치 후, LHAMS_WATCH_DIR / LHAMS_JSON_LOG 등 환경변수로 로컬 경로를 지정해 에이전트 실행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5486400" cy="1417320"/>
          </a:xfrm>
          <a:prstGeom prst="roundRect">
            <a:avLst>
              <a:gd name="adj" fmla="val 5000"/>
            </a:avLst>
          </a:prstGeom>
          <a:solidFill>
            <a:srgbClr val="1A2430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4787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검증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5120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C9D4DF"/>
                </a:solidFill>
                <a:latin typeface="Consolas"/>
              </a:rPr>
              <a:t>파일 생성→수정→삭제 → </a:t>
            </a:r>
            <a:r>
              <a:rPr sz="1300" b="1">
                <a:solidFill>
                  <a:srgbClr val="3DB88B"/>
                </a:solidFill>
                <a:latin typeface="Consolas"/>
              </a:rPr>
              <a:t>실시간 반영 확인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C9D4DF"/>
                </a:solidFill>
                <a:latin typeface="Consolas"/>
              </a:rPr>
              <a:t>전체 이벤트 수: 4 → </a:t>
            </a:r>
            <a:r>
              <a:rPr sz="1300" b="1">
                <a:solidFill>
                  <a:srgbClr val="F4F8FB"/>
                </a:solidFill>
                <a:latin typeface="Consolas"/>
              </a:rPr>
              <a:t>8</a:t>
            </a:r>
            <a:r>
              <a:rPr sz="1300" b="0">
                <a:solidFill>
                  <a:srgbClr val="C9D4DF"/>
                </a:solidFill>
                <a:latin typeface="Consolas"/>
              </a:rPr>
              <a:t> (스크린샷 대조 검증)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429000"/>
            <a:ext cx="5394960" cy="1691640"/>
          </a:xfrm>
          <a:prstGeom prst="roundRect">
            <a:avLst>
              <a:gd name="adj" fmla="val 35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363016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F8FB"/>
                </a:solidFill>
                <a:latin typeface="맑은 고딕"/>
              </a:rPr>
              <a:t>Windows 미재현 항목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60" y="3648456"/>
            <a:ext cx="630936" cy="310896"/>
          </a:xfrm>
          <a:prstGeom prst="roundRect">
            <a:avLst>
              <a:gd name="adj" fmla="val 50000"/>
            </a:avLst>
          </a:prstGeom>
          <a:solidFill>
            <a:srgbClr val="0E141B"/>
          </a:solidFill>
          <a:ln w="9525">
            <a:solidFill>
              <a:srgbClr val="F0A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950" b="1">
                <a:solidFill>
                  <a:srgbClr val="F0A63C"/>
                </a:solidFill>
                <a:latin typeface="Consolas"/>
              </a:rPr>
              <a:t>참고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4142232"/>
            <a:ext cx="4882896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auditd(ausearch) 없음 → 행위자 "unknown"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clamd 없음 → 실시간 악성코드 탐지 비활성 (예외 처리로 무중단)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systemd 자가치유 · Nginx 배포 → Linux 전용, 로컬 범위 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10 — 디렉토리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17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10 · PROJECT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프로젝트 디렉토리 구성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10789920" cy="3291840"/>
          </a:xfrm>
          <a:prstGeom prst="roundRect">
            <a:avLst>
              <a:gd name="adj" fmla="val 3000"/>
            </a:avLst>
          </a:prstGeom>
          <a:solidFill>
            <a:srgbClr val="1A2430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3852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/mail/lhams_project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31720"/>
            <a:ext cx="100584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7FB3D5"/>
                </a:solidFill>
                <a:latin typeface="Consolas"/>
              </a:rPr>
              <a:t>docs/</a:t>
            </a:r>
            <a:r>
              <a:rPr sz="1300" b="0">
                <a:solidFill>
                  <a:srgbClr val="6E7E8E"/>
                </a:solidFill>
                <a:latin typeface="Consolas"/>
              </a:rPr>
              <a:t>        # 세미나 · 아키텍처 문서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7FB3D5"/>
                </a:solidFill>
                <a:latin typeface="Consolas"/>
              </a:rPr>
              <a:t>frontend/</a:t>
            </a:r>
            <a:r>
              <a:rPr sz="1300" b="0">
                <a:solidFill>
                  <a:srgbClr val="6E7E8E"/>
                </a:solidFill>
                <a:latin typeface="Consolas"/>
              </a:rPr>
              <a:t>    # React 관제 대시보드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7FB3D5"/>
                </a:solidFill>
                <a:latin typeface="Consolas"/>
              </a:rPr>
              <a:t>agent/</a:t>
            </a:r>
            <a:r>
              <a:rPr sz="1300" b="0">
                <a:solidFill>
                  <a:srgbClr val="6E7E8E"/>
                </a:solidFill>
                <a:latin typeface="Consolas"/>
              </a:rPr>
              <a:t>       # Python Watchdog 컨트롤 타워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7FB3D5"/>
                </a:solidFill>
                <a:latin typeface="Consolas"/>
              </a:rPr>
              <a:t>java/</a:t>
            </a:r>
            <a:r>
              <a:rPr sz="1300" b="0">
                <a:solidFill>
                  <a:srgbClr val="6E7E8E"/>
                </a:solidFill>
                <a:latin typeface="Consolas"/>
              </a:rPr>
              <a:t>        # Tomcat 임베딩용 대안 에이전트 (FileAuditWatcher)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7FB3D5"/>
                </a:solidFill>
                <a:latin typeface="Consolas"/>
              </a:rPr>
              <a:t>scripts/</a:t>
            </a:r>
            <a:r>
              <a:rPr sz="1300" b="0">
                <a:solidFill>
                  <a:srgbClr val="6E7E8E"/>
                </a:solidFill>
                <a:latin typeface="Consolas"/>
              </a:rPr>
              <a:t>     # inotify / ClamAV / auditd 자동화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7FB3D5"/>
                </a:solidFill>
                <a:latin typeface="Consolas"/>
              </a:rPr>
              <a:t>systemd/</a:t>
            </a:r>
            <a:r>
              <a:rPr sz="1300" b="0">
                <a:solidFill>
                  <a:srgbClr val="6E7E8E"/>
                </a:solidFill>
                <a:latin typeface="Consolas"/>
              </a:rPr>
              <a:t>     # 자가 치유 서비스 유닛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7FB3D5"/>
                </a:solidFill>
                <a:latin typeface="Consolas"/>
              </a:rPr>
              <a:t>data/</a:t>
            </a:r>
            <a:r>
              <a:rPr sz="1300" b="0">
                <a:solidFill>
                  <a:srgbClr val="6E7E8E"/>
                </a:solidFill>
                <a:latin typeface="Consolas"/>
              </a:rPr>
              <a:t>        # target_monitor · quarantine · logs (Git 제외)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11 — 라이브 데모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18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11 · 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발표 중 시연 절차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1920240"/>
            <a:ext cx="457200" cy="457200"/>
          </a:xfrm>
          <a:prstGeom prst="ellipse">
            <a:avLst/>
          </a:prstGeom>
          <a:solidFill>
            <a:srgbClr val="1A2430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FB3D5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89280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F8FB"/>
                </a:solidFill>
                <a:latin typeface="맑은 고딕"/>
              </a:rPr>
              <a:t>프론트엔드 서버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860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E8E"/>
                </a:solidFill>
                <a:latin typeface="Consolas"/>
              </a:rPr>
              <a:t>npm run dev -- --host  →  http://서버IP:5173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1A2430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FB3D5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94436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F8FB"/>
                </a:solidFill>
                <a:latin typeface="맑은 고딕"/>
              </a:rPr>
              <a:t>Watchdog 백엔드 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375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E8E"/>
                </a:solidFill>
                <a:latin typeface="Consolas"/>
              </a:rPr>
              <a:t>python3 agent/lhams_watchdog.py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1A2430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7FB3D5"/>
                </a:solidFill>
                <a:latin typeface="Consola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9959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F8FB"/>
                </a:solidFill>
                <a:latin typeface="맑은 고딕"/>
              </a:rPr>
              <a:t>이벤트 발생 시뮬레이션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891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7E8E"/>
                </a:solidFill>
                <a:latin typeface="Consolas"/>
              </a:rPr>
              <a:t>touch → echo(수정) → rm(삭제) → EICAR wget(악성코드)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12 — 결론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19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23544"/>
            <a:ext cx="201168" cy="17780"/>
          </a:xfrm>
          <a:prstGeom prst="rect">
            <a:avLst/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8412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7FB3D5"/>
                </a:solidFill>
                <a:latin typeface="Consolas"/>
              </a:rPr>
              <a:t>12 ·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170432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4F8FB"/>
                </a:solidFill>
                <a:latin typeface="맑은 고딕"/>
              </a:rPr>
              <a:t>기대 효과 &amp; 향후 계획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83080"/>
            <a:ext cx="5394960" cy="2194560"/>
          </a:xfrm>
          <a:prstGeom prst="roundRect">
            <a:avLst>
              <a:gd name="adj" fmla="val 35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98424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F8FB"/>
                </a:solidFill>
                <a:latin typeface="맑은 고딕"/>
              </a:rPr>
              <a:t>기대 효과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002536"/>
            <a:ext cx="1293876" cy="310896"/>
          </a:xfrm>
          <a:prstGeom prst="roundRect">
            <a:avLst>
              <a:gd name="adj" fmla="val 50000"/>
            </a:avLst>
          </a:prstGeom>
          <a:solidFill>
            <a:srgbClr val="0E141B"/>
          </a:solidFill>
          <a:ln w="9525">
            <a:solidFill>
              <a:srgbClr val="3DB8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950" b="1">
                <a:solidFill>
                  <a:srgbClr val="3DB88B"/>
                </a:solidFill>
                <a:latin typeface="Consolas"/>
              </a:rPr>
              <a:t>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96312"/>
            <a:ext cx="488289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보안 위협에 대한 빠른 초기 대응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서버 관리 리소스 절감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시스템 안정성 확보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783080"/>
            <a:ext cx="5394960" cy="2194560"/>
          </a:xfrm>
          <a:prstGeom prst="roundRect">
            <a:avLst>
              <a:gd name="adj" fmla="val 3500"/>
            </a:avLst>
          </a:prstGeom>
          <a:solidFill>
            <a:srgbClr val="151D26"/>
          </a:solidFill>
          <a:ln w="9525">
            <a:solidFill>
              <a:srgbClr val="243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8424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4F8FB"/>
                </a:solidFill>
                <a:latin typeface="맑은 고딕"/>
              </a:rPr>
              <a:t>향후 계획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60" y="2002536"/>
            <a:ext cx="1293876" cy="310896"/>
          </a:xfrm>
          <a:prstGeom prst="roundRect">
            <a:avLst>
              <a:gd name="adj" fmla="val 50000"/>
            </a:avLst>
          </a:prstGeom>
          <a:solidFill>
            <a:srgbClr val="0E141B"/>
          </a:solidFill>
          <a:ln w="9525">
            <a:solidFill>
              <a:srgbClr val="7FB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 tIns="18288" bIns="18288"/>
          <a:lstStyle/>
          <a:p>
            <a:pPr algn="ctr"/>
            <a:r>
              <a:rPr sz="950" b="1">
                <a:solidFill>
                  <a:srgbClr val="7FB3D5"/>
                </a:solidFill>
                <a:latin typeface="Consolas"/>
              </a:rPr>
              <a:t>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2496312"/>
            <a:ext cx="488289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취약점 진단 및 리포팅 체계화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비정상 접근 로그 분석 연동</a:t>
            </a:r>
          </a:p>
          <a:p>
            <a:pPr>
              <a:lnSpc>
                <a:spcPct val="135000"/>
              </a:lnSpc>
              <a:spcAft>
                <a:spcPts val="1000"/>
              </a:spcAft>
            </a:pPr>
            <a:r>
              <a:rPr sz="1250">
                <a:solidFill>
                  <a:srgbClr val="C9D4DF"/>
                </a:solidFill>
                <a:latin typeface="맑은 고딕"/>
              </a:rPr>
              <a:t>—  통합 자체 보안 시스템으로 고도화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06240"/>
            <a:ext cx="10789920" cy="1280160"/>
          </a:xfrm>
          <a:prstGeom prst="roundRect">
            <a:avLst>
              <a:gd name="adj" fmla="val 5000"/>
            </a:avLst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3434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0A63C"/>
                </a:solidFill>
                <a:latin typeface="Consolas"/>
              </a:rPr>
              <a:t>TROUBLESHOOTING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634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9D4DF"/>
                </a:solidFill>
                <a:latin typeface="맑은 고딕"/>
              </a:rPr>
              <a:t>inotify만으로는 파일 실행(Execution)을 완벽히 잡을 수 없었습니다 — 커널 단의 auditd를 도입해 보안 사각지대를 없앴습니다.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310896"/>
            <a:ext cx="82296" cy="82296"/>
          </a:xfrm>
          <a:prstGeom prst="ellipse">
            <a:avLst/>
          </a:prstGeom>
          <a:solidFill>
            <a:srgbClr val="3DB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2560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4F8FB"/>
                </a:solidFill>
                <a:latin typeface="Consolas"/>
              </a:rPr>
              <a:t>LHAMS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E7E8E"/>
                </a:solidFill>
                <a:latin typeface="맑은 고딕"/>
              </a:rPr>
              <a:t>보안 감사 시스템 세미나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265176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/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58368"/>
            <a:ext cx="11274552" cy="0"/>
          </a:xfrm>
          <a:prstGeom prst="line">
            <a:avLst/>
          </a:prstGeom>
          <a:ln w="9525">
            <a:solidFill>
              <a:srgbClr val="2430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E7E8E"/>
                </a:solidFill>
                <a:latin typeface="Consolas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FB3D5"/>
                </a:solidFill>
                <a:latin typeface="Consola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4F8FB"/>
                </a:solidFill>
                <a:latin typeface="Consolas"/>
              </a:rPr>
              <a:t>질문 환영합니다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6E7E8E"/>
                </a:solidFill>
                <a:latin typeface="맑은 고딕"/>
              </a:rPr>
              <a:t>LHAMS — Linux Hybrid Mail Audit System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6E7E8E"/>
                </a:solidFill>
                <a:latin typeface="맑은 고딕"/>
              </a:rPr>
              <a:t>단순 파일 감지를 넘어, 커널 레벨 실행 추적부터 대시보드 시각화까지.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